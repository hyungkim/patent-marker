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12"/>
    <p:sldId id="262" r:id="rId13"/>
    <p:sldId id="263" r:id="rId14"/>
    <p:sldId id="264" r:id="rId15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A2233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Malgun Gothic"/>
              </a:rPr>
              <a:t>매출액 · 영업이익 추이 (단위: 억원)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1220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891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 상반기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612</c:v>
                </c:pt>
                <c:pt idx="1">
                  <c:v>741</c:v>
                </c:pt>
                <c:pt idx="2">
                  <c:v>482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</c:v>
                </c:pt>
              </c:strCache>
            </c:strRef>
          </c:tx>
          <c:spPr>
            <a:solidFill>
              <a:srgbClr val="00C2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891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 상반기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</c:v>
                </c:pt>
                <c:pt idx="1">
                  <c:v>55</c:v>
                </c:pt>
                <c:pt idx="2">
                  <c:v>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891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"/>
        </c:scaling>
        <c:delete val="0"/>
        <c:axPos val="l"/>
        <c:majorGridlines>
          <c:spPr>
            <a:ln w="12700" cap="flat">
              <a:solidFill>
                <a:srgbClr val="D5DD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891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본 보고서는 2026년 상반기 기술연구소 개발 성과를 정리한 내부 문서임.
슬라이드 3~4의 기술 내용은 현재까지 특허 출원이 이루어지지 않은 상태이며, </a:t>
            </a:r>
            <a:r>
              <a:rPr lang="en-US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일부 내용은 이미 외부에 공개된 이력이 있음</a:t>
            </a:r>
            <a:r>
              <a:rPr lang="en-US" dirty="0"/>
              <a:t xml:space="preserve">(슬라이드 5 참조).</a:t>
            </a:r>
            <a:endParaRPr lang="en-US" dirty="0"/>
          </a:p>
          <a:p/>
          <a:p>
            <a:r>
              <a:rPr sz="1000"/>
              <a:t>━━━━━━ 출원 검토 마킹 (자동 생성) ━━━━━━</a:t>
            </a:r>
          </a:p>
          <a:p>
            <a:r>
              <a:rPr sz="1000"/>
              <a:t>[B · 묵시 · 공개이력] “관련 기술 특허 출원”</a:t>
            </a:r>
          </a:p>
          <a:p>
            <a:r>
              <a:rPr sz="1000"/>
              <a:t>    → 특허 출원이 이루어져야 함을 시사하는 표현</a:t>
            </a:r>
          </a:p>
          <a:p>
            <a:r>
              <a:rPr sz="1000"/>
              <a:t>[C · ⚠공개 · 공개이력] “일부 내용은 이미 외부에 공개된 이력이 있음”</a:t>
            </a:r>
          </a:p>
          <a:p>
            <a:r>
              <a:rPr sz="1000"/>
              <a:t>    → 기술이 외부에 드러났거나 드러날 예정임을 뜻하는 문장</a:t>
            </a:r>
          </a:p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형광펜(밑줄) 구간이 출원 검토가 필요한 곳입니다. 색 안내는 첫 슬라이드의 범례 상자에 있습니다.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2026년 상반기 영업이익률 12.7%로 개선. 개선분의 상당 부분은 슬라이드 4의 </a:t>
            </a:r>
            <a:r>
              <a:rPr lang="en-US" dirty="0" u="sng"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 xml:space="preserve">광학 모듈 원가 절감 효과</a:t>
            </a:r>
            <a:r>
              <a:rPr lang="en-US" dirty="0"/>
              <a:t xml:space="preserve">에서 기인함.</a:t>
            </a:r>
            <a:endParaRPr lang="en-US" dirty="0"/>
          </a:p>
          <a:p/>
          <a:p>
            <a:r>
              <a:rPr sz="1000"/>
              <a:t>━━━━━━ 출원 검토 마킹 (자동 생성) ━━━━━━</a:t>
            </a:r>
          </a:p>
          <a:p>
            <a:r>
              <a:rPr sz="1000"/>
              <a:t>[B · 묵시 · 구조] “조립·물류 장비 중심 구조에서 검사 솔루션 중심으로 이동 중”</a:t>
            </a:r>
          </a:p>
          <a:p>
            <a:r>
              <a:rPr sz="1000"/>
              <a:t>    → 구조 변화에 따른 기술적 개선이 존재함을 시사한다.</a:t>
            </a:r>
          </a:p>
          <a:p>
            <a:r>
              <a:rPr sz="1000"/>
              <a:t>[B · 묵시 · ⚠공개 · 범위한정] “검사 모듈 12조 공급 확정”</a:t>
            </a:r>
          </a:p>
          <a:p>
            <a:r>
              <a:rPr sz="1000"/>
              <a:t>    → 공급 확정에 따른 기술적 구성이 존재함을 시사한다.</a:t>
            </a:r>
          </a:p>
          <a:p>
            <a:r>
              <a:rPr sz="1000"/>
              <a:t>[B · 묵시 · ⚠공개 · 공개이력] “2026년 3분기 현장 검증(SOP) 예정”</a:t>
            </a:r>
          </a:p>
          <a:p>
            <a:r>
              <a:rPr sz="1000"/>
              <a:t>    → 기술이 외부에 드러날 예정임을 시사한다.</a:t>
            </a:r>
          </a:p>
          <a:p>
            <a:r>
              <a:rPr sz="1000"/>
              <a:t>[B · 묵시 · 범위한정] “광학 모듈 원가 절감 효과”</a:t>
            </a:r>
          </a:p>
          <a:p>
            <a:r>
              <a:rPr sz="1000"/>
              <a:t>    → 원가 절감에 기여한 기술적 수단이 존재함을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u="sng"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캐스케이드 구조와 적응형 임계 방식은 사내 독자 설계이며 현재 논문·특허 등 공개 실적 없음.</a:t>
            </a:r>
            <a:r>
              <a:rPr lang="en-US" dirty="0"/>
              <a:t xml:space="preserve">
합성 결함 증강 비율(1:200)은 3개월간 실험으로 도출한 값으로, 1:50 이하에서는 재현율이 급격히 저하됨.</a:t>
            </a:r>
            <a:endParaRPr lang="en-US" dirty="0"/>
          </a:p>
          <a:p/>
          <a:p>
            <a:r>
              <a:rPr sz="1000"/>
              <a:t>━━━━━━ 출원 검토 마킹 (자동 생성) ━━━━━━</a:t>
            </a:r>
          </a:p>
          <a:p>
            <a:r>
              <a:rPr sz="1000"/>
              <a:t>[B · 묵시 · 알고리즘] “실시간 전극 결함 검출 알고리즘”</a:t>
            </a:r>
          </a:p>
          <a:p>
            <a:r>
              <a:rPr sz="1000"/>
              <a:t>    → 알고리즘이라는 기술 명사가 등장하며, 실시간 검출이라는 기능적 효과를 내는 제어 수단이 존재함을 시사함.</a:t>
            </a:r>
          </a:p>
          <a:p>
            <a:r>
              <a:rPr sz="1000"/>
              <a:t>[A · 구조] “추론 부하를 2단계로 분리한 캐스케이드 구조를 신규 설계함”</a:t>
            </a:r>
          </a:p>
          <a:p>
            <a:r>
              <a:rPr sz="1000"/>
              <a:t>    → 구체적인 구조 설계 방법이 명시되어 있어, 청구항 초안으로 바로 전개 가능함.</a:t>
            </a:r>
          </a:p>
          <a:p>
            <a:r>
              <a:rPr sz="1000"/>
              <a:t>[A · 알고리즘] “1차 모델은 정상 판정에만 특화된 경량 CNN으로, 정상 프레임을 즉시 배제해 2차 모델의 입력량을 1/33로 축소”</a:t>
            </a:r>
          </a:p>
          <a:p>
            <a:r>
              <a:rPr sz="1000"/>
              <a:t>    → 1차 모델의 특화된 기능과 입력량 축소 효과가 구체적으로 설명되어 있음.</a:t>
            </a:r>
          </a:p>
          <a:p>
            <a:r>
              <a:rPr sz="1000"/>
              <a:t>[A · 방법] “결함 샘플 희소성 문제는 실 결함 1장당 합성 결함 200장을 생성하는 증강 파이프라인으로 보완 (결함 형태·위치·조도 랜덤화)”</a:t>
            </a:r>
          </a:p>
          <a:p>
            <a:r>
              <a:rPr sz="1000"/>
              <a:t>    → 구체적인 증강 방법과 생성 비율이 명시되어 있어, 기술적 수단이 명확히 드러남.</a:t>
            </a:r>
          </a:p>
          <a:p>
            <a:r>
              <a:rPr sz="1000"/>
              <a:t>[B · 묵시 · 범위한정] “라인 속도 120 m/min 조건에서 20㎛급 미세 결함까지 검출 가능”</a:t>
            </a:r>
          </a:p>
          <a:p>
            <a:r>
              <a:rPr sz="1000"/>
              <a:t>    → 검출 가능한 결함 크기와 속도 조건이 명시되어 있으나, 이를 가능하게 한 기술 수단은 설명되지 않음.</a:t>
            </a:r>
          </a:p>
          <a:p>
            <a:r>
              <a:rPr sz="1000"/>
              <a:t>[A · 알고리즘] “판정 임계값을 직전 500프레임의 결함 밀도에 따라 자동 조정하는 적응형 임계 방식 적용”</a:t>
            </a:r>
          </a:p>
          <a:p>
            <a:r>
              <a:rPr sz="1000"/>
              <a:t>    → 임계값 자동 조정 방식이 구체적으로 설명되어 있어, 기술적 수단이 명확히 드러남.</a:t>
            </a:r>
          </a:p>
          <a:p>
            <a:r>
              <a:rPr sz="1000"/>
              <a:t>[B · 묵시 · 범위한정] “4.2%   →   0.7%”</a:t>
            </a:r>
          </a:p>
          <a:p>
            <a:r>
              <a:rPr sz="1000"/>
              <a:t>    → 불량률 향상 효과만 기재되어 있으나, 이를 가능하게 한 기술 수단은 설명되지 않음.</a:t>
            </a:r>
          </a:p>
          <a:p>
            <a:r>
              <a:rPr sz="1000"/>
              <a:t>[B · 묵시 · 알고리즘] “프레임당 추론 시간”</a:t>
            </a:r>
          </a:p>
          <a:p>
            <a:r>
              <a:rPr sz="1000"/>
              <a:t>    → 추론 시간이라는 기능적 효과가 언급되었으나, 이를 가능하게 한 제어 수단은 설명되지 않음.</a:t>
            </a:r>
          </a:p>
          <a:p>
            <a:r>
              <a:rPr sz="1000"/>
              <a:t>[B · 묵시 · 범위한정] “38 ms   →   11 ms”</a:t>
            </a:r>
          </a:p>
          <a:p>
            <a:r>
              <a:rPr sz="1000"/>
              <a:t>    → 추론 시간 향상 효과만 기재되어 있으나, 이를 가능하게 한 기술 수단은 설명되지 않음.</a:t>
            </a:r>
          </a:p>
          <a:p>
            <a:r>
              <a:rPr sz="1000"/>
              <a:t>[B · 묵시 · 범위한정] “1개   →   4개”</a:t>
            </a:r>
          </a:p>
          <a:p>
            <a:r>
              <a:rPr sz="1000"/>
              <a:t>    → 처리 라인 수 향상 효과만 기재되어 있으나, 이를 가능하게 한 기술 수단은 설명되지 않음.</a:t>
            </a:r>
          </a:p>
          <a:p>
            <a:r>
              <a:rPr sz="1000"/>
              <a:t>[B · 묵시 · ⚠공개 · 독자성주장] “캐스케이드 구조와 적응형 임계 방식은 사내 독자 설계이며 현재 논문·특허 등 공개 실적 없음.”</a:t>
            </a:r>
          </a:p>
          <a:p>
            <a:r>
              <a:rPr sz="1000"/>
              <a:t>    → 독자 설계라는 주장이 있으며, 논문·특허 공개 예정이 없음을 언급하여, 공개 리스크가 있음.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교번 조명 주파수 200Hz는 라인 속도 120m/min 기준으로 결정. 파장 조합과 교번 주기, 입사각 범위가 성능의 핵심 변수임.
</a:t>
            </a:r>
            <a:r>
              <a:rPr lang="en-US" dirty="0" u="sng"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 xml:space="preserve">분광 프리즘 배치 구조는 협력사 도면이 아닌 자사 설계이며, 도면 일체를 사내에서 관리 중.</a:t>
            </a:r>
            <a:endParaRPr lang="en-US" dirty="0"/>
          </a:p>
          <a:p/>
          <a:p>
            <a:r>
              <a:rPr sz="1000"/>
              <a:t>━━━━━━ 출원 검토 마킹 (자동 생성) ━━━━━━</a:t>
            </a:r>
          </a:p>
          <a:p>
            <a:r>
              <a:rPr sz="1000"/>
              <a:t>[B · 묵시 · 방법] “광학 검사 모듈 및 공정 제어 개선”</a:t>
            </a:r>
          </a:p>
          <a:p>
            <a:r>
              <a:rPr sz="1000"/>
              <a:t>    → 공정 개선에 대한 언급으로, 개선된 방법이 존재함을 시사한다.</a:t>
            </a:r>
          </a:p>
          <a:p>
            <a:r>
              <a:rPr sz="1000"/>
              <a:t>[A · 구조] “450nm 청색광과 660nm 적색광을 200Hz로 교번 점등하고, 파장별 영상을 합성해 표면 결함과 내부 기공을 한 번의 스캔으로 동시 검출.”</a:t>
            </a:r>
          </a:p>
          <a:p>
            <a:r>
              <a:rPr sz="1000"/>
              <a:t>    → 구체적인 파장, 주파수, 검출 방식이 명시되어 있다.</a:t>
            </a:r>
          </a:p>
          <a:p>
            <a:r>
              <a:rPr sz="1000"/>
              <a:t>[B · 묵시 · 범위한정] “조명 입사각을 22~28° 구간에서 가변한 결과 미세 크랙 대비비가 최대. 24°를 표준 사양으로 확정하고 각도 가변 마운트를 자체 제작.”</a:t>
            </a:r>
          </a:p>
          <a:p>
            <a:r>
              <a:rPr sz="1000"/>
              <a:t>    → 입사각 범위와 최적 조건 확정, 자체 제작 언급으로 기술 개발이 존재함을 시사한다.</a:t>
            </a:r>
          </a:p>
          <a:p>
            <a:r>
              <a:rPr sz="1000"/>
              <a:t>[B · 묵시 · 알고리즘] “코팅 두께 실시간 피드백”</a:t>
            </a:r>
          </a:p>
          <a:p>
            <a:r>
              <a:rPr sz="1000"/>
              <a:t>    → 실시간 피드백이라는 표현으로 제어 수단이 존재함을 시사한다.</a:t>
            </a:r>
          </a:p>
          <a:p>
            <a:r>
              <a:rPr sz="1000"/>
              <a:t>[B · 묵시 · 범위한정] “검사 결과를 코터 슬롯다이 제어기에 200ms 주기로 반영하는 폐루프 구성. 두께 편차 ±0.8㎛ → ±0.3㎛로 축소.”</a:t>
            </a:r>
          </a:p>
          <a:p>
            <a:r>
              <a:rPr sz="1000"/>
              <a:t>    → 두께 편차 개선 효과가 명시되며, 폐루프 구성이라는 표현으로 제어 수단 존재 가능성이 있음.</a:t>
            </a:r>
          </a:p>
          <a:p>
            <a:r>
              <a:rPr sz="1000"/>
              <a:t>[B · 묵시 · 방법] “모듈 원가 구조 개선”</a:t>
            </a:r>
          </a:p>
          <a:p>
            <a:r>
              <a:rPr sz="1000"/>
              <a:t>    → 원가 구조 개선이라는 표현으로, 개선된 방법이 존재함을 시사한다.</a:t>
            </a:r>
          </a:p>
          <a:p>
            <a:r>
              <a:rPr sz="1000"/>
              <a:t>[A · 구조] “라인스캔 카메라 4대 구성을 카메라 2대 + 분광 프리즘 구성으로 대체. 광학 모듈 원가 40% 절감, 설치 폭 320mm 축소.”</a:t>
            </a:r>
          </a:p>
          <a:p>
            <a:r>
              <a:rPr sz="1000"/>
              <a:t>    → 구체적인 구성 변경과 수치적 효과가 명시되어 있다.</a:t>
            </a:r>
          </a:p>
          <a:p>
            <a:r>
              <a:rPr sz="1000"/>
              <a:t>[B · 묵시 · 구조] “광학 모듈 기준”</a:t>
            </a:r>
          </a:p>
          <a:p>
            <a:r>
              <a:rPr sz="1000"/>
              <a:t>    → 기준이라는 표현으로, 특정 구성이 존재함을 시사한다.</a:t>
            </a:r>
          </a:p>
          <a:p>
            <a:r>
              <a:rPr sz="1000"/>
              <a:t>[B · 묵시 · 범위한정] “기존 ±0.8㎛”</a:t>
            </a:r>
          </a:p>
          <a:p>
            <a:r>
              <a:rPr sz="1000"/>
              <a:t>    → 기존 수치가 명시되어 있어, 개선된 수치와 비교 가능성이 있음.</a:t>
            </a:r>
          </a:p>
          <a:p>
            <a:r>
              <a:rPr sz="1000"/>
              <a:t>[B · 묵시 · 범위한정] “△320mm”</a:t>
            </a:r>
          </a:p>
          <a:p>
            <a:r>
              <a:rPr sz="1000"/>
              <a:t>    → 수치적 변화가 명시되어 있어, 개선된 구조가 존재함을 시사한다.</a:t>
            </a:r>
          </a:p>
          <a:p>
            <a:r>
              <a:rPr sz="1000"/>
              <a:t>[B · 묵시 · 효과만기재] “라인 점유 면적 축소”</a:t>
            </a:r>
          </a:p>
          <a:p>
            <a:r>
              <a:rPr sz="1000"/>
              <a:t>    → 면적 축소라는 효과가 명시되어 있어, 이를 가능하게 한 기술이 존재함을 시사한다.</a:t>
            </a:r>
          </a:p>
          <a:p>
            <a:r>
              <a:rPr sz="1000"/>
              <a:t>[B · 묵시 · 독자성주장] “분광 프리즘 배치 구조는 협력사 도면이 아닌 자사 설계이며, 도면 일체를 사내에서 관리 중.”</a:t>
            </a:r>
          </a:p>
          <a:p>
            <a:r>
              <a:rPr sz="1000"/>
              <a:t>    → 자사 설계라는 표현으로, 독자적인 기술이 존재함을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학회 발표는 초록 제출 시점부터 공개로 간주될 수 있으므로, 출원 시점을 8월 중으로 앞당길 필요가 있는지 검토 요청.</a:t>
            </a:r>
            <a:r>
              <a:rPr lang="en-US" dirty="0"/>
              <a:t xml:space="preserve">
InterBattery 시연은 이미 공개에 해당하므로 공지예외주장(신규성 의제) 적용 가능 기간을 확인해야 함.</a:t>
            </a:r>
            <a:endParaRPr lang="en-US" dirty="0"/>
          </a:p>
          <a:p/>
          <a:p>
            <a:r>
              <a:rPr sz="1000"/>
              <a:t>━━━━━━ 출원 검토 마킹 (자동 생성) ━━━━━━</a:t>
            </a:r>
          </a:p>
          <a:p>
            <a:r>
              <a:rPr sz="1000"/>
              <a:t>[B · ⚠공개 · 규칙 · 공개이력] “검사 모듈 12조 설치 및 SOP 승인”</a:t>
            </a:r>
          </a:p>
          <a:p>
            <a:r>
              <a:rPr sz="1000"/>
              <a:t>    → 판매·양산 개시 = 공연실시. 출원 가능 기한이 지났는지 확인 필요 (규칙 사전 감지 · 모델 미판정 구간)</a:t>
            </a:r>
          </a:p>
          <a:p>
            <a:r>
              <a:rPr sz="1000"/>
              <a:t>[B · 블랙박스용어] “원통형 46파이 라인 대응”</a:t>
            </a:r>
          </a:p>
          <a:p>
            <a:r>
              <a:rPr sz="1000"/>
              <a:t>    → 원통형 46파이 라인이라는 기술 용어가 등장하여 해당 기술이 존재함을 시사함</a:t>
            </a:r>
          </a:p>
          <a:p>
            <a:r>
              <a:rPr sz="1000"/>
              <a:t>[B · 블랙박스용어] “곡면 전극용 광학계 파생 모델 개발”</a:t>
            </a:r>
          </a:p>
          <a:p>
            <a:r>
              <a:rPr sz="1000"/>
              <a:t>    → 파생 모델이라는 기술 용어가 등장하여 해당 기술이 존재함을 시사함</a:t>
            </a:r>
          </a:p>
          <a:p>
            <a:r>
              <a:rPr sz="1000"/>
              <a:t>[B · ⚠공개 · 공개이력] “수율 예측 서비스 상용화”</a:t>
            </a:r>
          </a:p>
          <a:p>
            <a:r>
              <a:rPr sz="1000"/>
              <a:t>    → 상용화가 이루어졌으므로, 해당 서비스가 외부에 노출되었음을 시사함</a:t>
            </a:r>
          </a:p>
          <a:p>
            <a:r>
              <a:rPr sz="1000"/>
              <a:t>[B · 블랙박스용어] “누적 검사 데이터 기반 불량 사전 예측”</a:t>
            </a:r>
          </a:p>
          <a:p>
            <a:r>
              <a:rPr sz="1000"/>
              <a:t>    → 불량 사전 예측이라는 기술 용어가 등장하여 해당 기술이 존재함을 시사함</a:t>
            </a:r>
          </a:p>
          <a:p>
            <a:r>
              <a:rPr sz="1000"/>
              <a:t>[B · ⚠공개 · 공개이력] “2단계 캐스케이드 검사 공정을 실물 시연, 동작 화면 및 판정 로직 개요가 참관객에게 노출됨”</a:t>
            </a:r>
          </a:p>
          <a:p>
            <a:r>
              <a:rPr sz="1000"/>
              <a:t>    → 실물 시연 및 판정 로직 개요 노출로 인해 외부에 기술이 노출되었음을 시사함</a:t>
            </a:r>
          </a:p>
          <a:p>
            <a:r>
              <a:rPr sz="1000"/>
              <a:t>[B · ⚠공개 · 블랙박스용어] “동작 화면 및 판정 로직 개요가 참관객에게 노출됨”</a:t>
            </a:r>
          </a:p>
          <a:p>
            <a:r>
              <a:rPr sz="1000"/>
              <a:t>    → 판정 로직 개요가 노출되었으므로, 해당 로직이 존재함을 시사함</a:t>
            </a:r>
          </a:p>
          <a:p>
            <a:r>
              <a:rPr sz="1000"/>
              <a:t>[B · ⚠공개 · 블랙박스용어] “다중 파장 교번 조명 방식의 실험 데이터 포함”</a:t>
            </a:r>
          </a:p>
          <a:p>
            <a:r>
              <a:rPr sz="1000"/>
              <a:t>    → 다중 파장 교번 조명 방식이라는 기술 용어가 등장하여 해당 기술이 존재함을 시사함</a:t>
            </a:r>
          </a:p>
          <a:p>
            <a:r>
              <a:rPr sz="1000"/>
              <a:t>[B · ⚠공개 · 블랙박스용어] “유사한 다중 파장 조명 검사 방식을 2025. 11 공개특허로 등록 공개한 것으로 확인됨”</a:t>
            </a:r>
          </a:p>
          <a:p>
            <a:r>
              <a:rPr sz="1000"/>
              <a:t>    → 다중 파장 조명 검사 방식이라는 기술 용어가 등장하여 해당 기술이 존재함을 시사함</a:t>
            </a:r>
          </a:p>
          <a:p>
            <a:r>
              <a:rPr sz="1000"/>
              <a:t>[B · 독자성주장] “자사 명의의 출원 실적이 없으며, 지식재산 담당 부서의 검토가 진행된 바 없음”</a:t>
            </a:r>
          </a:p>
          <a:p>
            <a:r>
              <a:rPr sz="1000"/>
              <a:t>    → 자사 명의의 출원 실적이 없음을 언급하여, 해당 기술이 존재함을 시사함</a:t>
            </a:r>
          </a:p>
          <a:p>
            <a:r>
              <a:rPr sz="1000"/>
              <a:t>[B · ⚠공개 · 공개이력] “학회 발표는 초록 제출 시점부터 공개로 간주될 수 있으므로, 출원 시점을 8월 중으로 앞당길 필요가 있는지 검토 요청.”</a:t>
            </a:r>
          </a:p>
          <a:p>
            <a:r>
              <a:rPr sz="1000"/>
              <a:t>    → 학회 발표로 인해 기술이 공개될 가능성이 있으므로, 출원 시점 관리가 필요함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형광펜(밑줄) 구간이 출원 검토가 필요한 곳입니다. 색 안내는 첫 슬라이드의 범례 상자에 있습니다.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형광펜(밑줄) 구간이 출원 검토가 필요한 곳입니다. 색 안내는 첫 슬라이드의 범례 상자에 있습니다.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형광펜(밑줄) 구간이 출원 검토가 필요한 곳입니다. 색 안내는 첫 슬라이드의 범례 상자에 있습니다.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형광펜(밑줄) 구간이 출원 검토가 필요한 곳입니다. 색 안내는 첫 슬라이드의 범례 상자에 있습니다.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HANBIT 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9095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80" kern="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· CONFIDENTIAL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상반기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22402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R&amp;D 성과 및 사업 현황 보고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94360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2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이차전지 전극 공정 검사 시스템 개발 부문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3657600"/>
            <a:ext cx="2011680" cy="18288"/>
          </a:xfrm>
          <a:prstGeom prst="rect">
            <a:avLst/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379476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기술연구소 · 제품개발본부   |   보고일 2026. 08. 14   |   작성 정민서 수석연구원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482억원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상반기 매출액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동기 대비 +18.4%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7388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9392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21건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9392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양산 라인 수주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9392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3사 · 해외 1사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5340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2A467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7344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7344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기술 특허 출원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7344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검토 미착수</a:t>
            </a:r>
            <a:endParaRPr lang="en-US" sz="1050" dirty="0"/>
          </a:p>
        </p:txBody>
      </p:sp>
      <p:sp>
        <p:nvSpPr>
          <p:cNvPr id="21" name="출원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출원검토필요 2건</a:t>
            </a:r>
          </a:p>
        </p:txBody>
      </p:sp>
      <p:sp>
        <p:nvSpPr>
          <p:cNvPr id="22" name="출원검토필요 범례"/>
          <p:cNvSpPr/>
          <p:nvPr/>
        </p:nvSpPr>
        <p:spPr>
          <a:xfrm>
            <a:off x="5943600" y="228600"/>
            <a:ext cx="379476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000" b="1">
                <a:solidFill>
                  <a:srgbClr val="C62828"/>
                </a:solidFill>
              </a:rPr>
              <a:t>출원검토필요 표시 안내</a:t>
            </a:r>
          </a:p>
          <a:p>
            <a:pPr algn="l"/>
            <a:r>
              <a:rPr sz="900" b="1" u="sng">
                <a:solidFill>
                  <a:srgbClr val="141A22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</a:rPr>
              <a:t> A </a:t>
            </a:r>
            <a:r>
              <a:rPr sz="900">
                <a:solidFill>
                  <a:srgbClr val="141A22"/>
                </a:solidFill>
              </a:rPr>
              <a:t>  즉시 출원 검토 — 구체적 기술 수단이 드러남</a:t>
            </a:r>
          </a:p>
          <a:p>
            <a:pPr algn="l"/>
            <a:r>
              <a:rPr sz="900" b="1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> B </a:t>
            </a:r>
            <a:r>
              <a:rPr sz="900">
                <a:solidFill>
                  <a:srgbClr val="141A22"/>
                </a:solidFill>
              </a:rPr>
              <a:t>  발명 발굴 필요 — 수단은 없으나 존재가 시사됨</a:t>
            </a:r>
          </a:p>
          <a:p>
            <a:pPr algn="l"/>
            <a:r>
              <a:rPr sz="900" b="1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> ⚠ </a:t>
            </a:r>
            <a:r>
              <a:rPr sz="900">
                <a:solidFill>
                  <a:srgbClr val="141A22"/>
                </a:solidFill>
              </a:rPr>
              <a:t>  공개 리스크 — 전시·논문 등 이미 공개된 내용</a:t>
            </a:r>
          </a:p>
          <a:p>
            <a:pPr algn="l"/>
            <a:r>
              <a:rPr sz="800">
                <a:solidFill>
                  <a:srgbClr val="5F6B7A"/>
                </a:solidFill>
              </a:rPr>
              <a:t>형광펜(밑줄) 구간 = 출원 검토 필요</a:t>
            </a:r>
          </a:p>
          <a:p>
            <a:pPr algn="l"/>
            <a:r>
              <a:rPr sz="800">
                <a:solidFill>
                  <a:srgbClr val="5F6B7A"/>
                </a:solidFill>
              </a:rPr>
              <a:t>근거: 발표자 노트  ·  전체 목록: 마지막 슬라이드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현황 요약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508760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95160" y="161848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99516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43800" y="1600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믹스 전환 가속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543800" y="192938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전극 검사장비 매출 비중이 34% → 51%로 상승. </a:t>
            </a: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조립·물류 장비 중심 구조에서 검사 솔루션 중심으로 이동 중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995160" y="30358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9951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43800" y="3017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양산 라인 첫 진입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543800" y="334670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헝가리 고객사 2호기 라인에 </a:t>
            </a:r>
            <a:r>
              <a:rPr lang="en-US" sz="1150" dirty="0" u="sng">
                <a:solidFill>
                  <a:srgbClr val="1A2233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검사 모듈 12조 공급 확정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 </a:t>
            </a:r>
            <a:r>
              <a:rPr lang="en-US" sz="1150" dirty="0" u="sng">
                <a:solidFill>
                  <a:srgbClr val="1A2233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2026년 3분기 현장 검증(SOP) 예정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445312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99516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43800" y="44348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단가 하락 압력 지속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543800" y="476402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평균 판매단가 연 7~9% 하락. 하드웨어 원가 절감과 소프트웨어 차별화가 수익성의 관건.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출원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출원검토필요 4건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572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57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SOFTWARE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82296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전극 결함 검출 알고리즘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라인 정지 없이 전 수량을 검사하기 위해, </a:t>
            </a:r>
            <a:r>
              <a:rPr lang="en-US" sz="1250" dirty="0" u="sng">
                <a:solidFill>
                  <a:srgbClr val="6B7891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추론 부하를 2단계로 분리한 캐스케이드 구조를 신규 설계함</a:t>
            </a:r>
            <a:r>
              <a:rPr lang="en-US" sz="125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95528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영상 취득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라인스캔 카메라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 m/min 연속 촬상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49524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33572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12203F"/>
          </a:solidFill>
          <a:ln/>
          <a:effectLst>
            <a:outerShdw sx="100000" sy="100000" kx="0" ky="0" algn="bl" rotWithShape="0" blurRad="127000" dist="25400" dir="5400000">
              <a:srgbClr val="8FA3BF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34740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경량 CNN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34740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프레임의 97%를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정상으로 조기 배제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88736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72784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12203F"/>
          </a:solidFill>
          <a:ln/>
          <a:effectLst>
            <a:outerShdw sx="100000" sy="100000" kx="0" ky="0" algn="bl" rotWithShape="0" blurRad="127000" dist="25400" dir="5400000">
              <a:srgbClr val="8FA3BF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73952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정밀 분류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73952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 3%만 트랜스포머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모델로 결함 유형 판정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72794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11996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13164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· 피드백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13164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등급 산출 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코터 제어기로 전송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4015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3712464"/>
            <a:ext cx="5257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모델은 정상 판정에만 특화된 경량 CNN으로, 정상 프레임을 즉시 배제해 2차 모델의 입력량을 1/33로 축소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샘플 희소성 문제는 실 결함 1장당 합성 결함 200장을 생성하는 증강 파이프라인으로 보완 (결함 형태·위치·조도 랜덤화)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속도 120 m/min 조건에서 20㎛급 미세 결함까지 검출 가능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임계값을 직전 500프레임의 결함 밀도에 따라 자동 조정하는 적응형 임계 방식 적용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09360" y="34015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성과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309360" y="3730752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28816" y="3730752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오검출률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727948" y="3730752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38912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28816" y="4389120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프레임당 추론 시간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727948" y="4389120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ms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ms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5047488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28816" y="5047488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1장당 처리 라인 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727948" y="5047488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출원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출원검토필요 11건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57200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57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HARDWARE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82296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 검사 모듈 및 공정 제어 개선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1572768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18288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07592" y="1828800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파장 교번 조명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231136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450nm 청색광과 660nm 적색광을 200Hz로 교번 점등하고, 파장별 영상을 합성해 표면 결함과 내부 기공을 한 번의 스캔으로 동시 검출.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6500" y="1572768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60820" y="18288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6082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9732" y="1828800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경사 입사 광학계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60820" y="2231136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입사각을 22~28° 구간에서 가변한 결과 미세 크랙 대비비가 최대. 24°를 표준 사양으로 확정하고 각도 가변 마운트를 자체 제작.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374136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68680" y="363016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07592" y="3630168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코팅 두께 실시간 피드백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032504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결과를 코터 슬롯다이 제어기에 200ms 주기로 반영하는 폐루프 구성. 두께 편차 ±0.8㎛ → ±0.3㎛로 축소.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86500" y="3374136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60820" y="363016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6082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9732" y="3630168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원가 구조 개선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60820" y="4032504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라인스캔 카메라 4대 구성을 카메라 2대 + 분광 프리즘 구성으로 대체. 광학 모듈 원가 40% 절감, 설치 폭 320mm 축소.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4937760"/>
            <a:ext cx="10972800" cy="969264"/>
          </a:xfrm>
          <a:prstGeom prst="roundRect">
            <a:avLst>
              <a:gd name="adj" fmla="val 7547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원가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86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△40%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686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 모듈 기준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118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 편차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6118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±0.3㎛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36118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±0.8㎛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폭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550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 u="sng">
                <a:solidFill>
                  <a:srgbClr val="00C2A8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△320mm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점유 면적 축소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항목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0982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 동시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0982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+ 내부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출원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출원검토필요 12건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확인 필요 사항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3Q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헝가리 2호기 현장 검증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모듈 12조 설치 및 SOP 승인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4Q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원통형 46파이 라인 대응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곡면 전극용 광학계 파생 모델 개발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8388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5820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1H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5820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 예측 서비스 상용화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5820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검사 데이터 기반 불량 사전 예측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291840"/>
            <a:ext cx="10972800" cy="2560320"/>
          </a:xfrm>
          <a:prstGeom prst="roundRect">
            <a:avLst>
              <a:gd name="adj" fmla="val 3571"/>
            </a:avLst>
          </a:prstGeom>
          <a:solidFill>
            <a:srgbClr val="1E3358"/>
          </a:solidFill>
          <a:ln w="19050">
            <a:solidFill>
              <a:srgbClr val="00C2A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3529584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확인 요청 사항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05840" y="3895344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2026. 05  InterBattery 2026 자사 부스에서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2단계 캐스케이드 검사 공정을 실물 시연, 동작 화면 및 판정 로직 개요가 참관객에게 노출됨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2026. 09  한국전지학회 추계학술대회 논문 발표 예정 (초록 제출 마감 8/31) —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다중 파장 교번 조명 방식의 실험 데이터 포함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경쟁사 T사가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유사한 다중 파장 조명 검사 방식을 2025. 11 공개특허로 등록 공개한 것으로 확인됨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슬라이드 3~4에 기재된 기술 전반에 대해 </a:t>
            </a:r>
            <a:r>
              <a:rPr lang="en-US" sz="12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자사 명의의 출원 실적이 없으며, 지식재산 담당 부서의 검토가 진행된 바 없음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9A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9A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출원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출원검토필요 11건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출원 검토 마킹 요약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p1  [B·묵시]  공개이력  |  관련 기술 특허 출원</a:t>
            </a:r>
          </a:p>
          <a:p>
            <a:r>
              <a:rPr sz="1100"/>
              <a:t>p1  [C·⚠공개]  공개이력  |  일부 내용은 이미 외부에 공개된 이력이 있음</a:t>
            </a:r>
          </a:p>
          <a:p>
            <a:r>
              <a:rPr sz="1100"/>
              <a:t>p2  [B·묵시]  구조  |  조립·물류 장비 중심 구조에서 검사 솔루션 중심으로 이동 중</a:t>
            </a:r>
          </a:p>
          <a:p>
            <a:r>
              <a:rPr sz="1100"/>
              <a:t>p2  [B·묵시·⚠공개]  범위한정  |  검사 모듈 12조 공급 확정</a:t>
            </a:r>
          </a:p>
          <a:p>
            <a:r>
              <a:rPr sz="1100"/>
              <a:t>p2  [B·묵시·⚠공개]  공개이력  |  2026년 3분기 현장 검증(SOP) 예정</a:t>
            </a:r>
          </a:p>
          <a:p>
            <a:r>
              <a:rPr sz="1100"/>
              <a:t>p2  [B·묵시]  범위한정  |  광학 모듈 원가 절감 효과</a:t>
            </a:r>
          </a:p>
          <a:p>
            <a:r>
              <a:rPr sz="1100"/>
              <a:t>p3  [B·묵시]  알고리즘  |  실시간 전극 결함 검출 알고리즘</a:t>
            </a:r>
          </a:p>
          <a:p>
            <a:r>
              <a:rPr sz="1100"/>
              <a:t>p3  [A]  구조  |  추론 부하를 2단계로 분리한 캐스케이드 구조를 신규 설계함</a:t>
            </a:r>
          </a:p>
          <a:p>
            <a:r>
              <a:rPr sz="1100"/>
              <a:t>p3  [A]  알고리즘  |  1차 모델은 정상 판정에만 특화된 경량 CNN으로, 정상 프레임을 즉시 배제해 2차 모델의 입력량…</a:t>
            </a:r>
          </a:p>
          <a:p>
            <a:r>
              <a:rPr sz="1100"/>
              <a:t>p3  [A]  방법  |  결함 샘플 희소성 문제는 실 결함 1장당 합성 결함 200장을 생성하는 증강 파이프라인으로 보완 …</a:t>
            </a:r>
          </a:p>
          <a:p>
            <a:r>
              <a:rPr sz="1100"/>
              <a:t>p3  [B·묵시]  범위한정  |  라인 속도 120 m/min 조건에서 20㎛급 미세 결함까지 검출 가능</a:t>
            </a:r>
          </a:p>
          <a:p>
            <a:r>
              <a:rPr sz="1100"/>
              <a:t>p3  [A]  알고리즘  |  판정 임계값을 직전 500프레임의 결함 밀도에 따라 자동 조정하는 적응형 임계 방식 적용</a:t>
            </a:r>
          </a:p>
          <a:p>
            <a:r>
              <a:rPr sz="1100"/>
              <a:t>p3  [B·묵시]  범위한정  |  4.2%   →   0.7%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출원 검토 마킹 요약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p3  [B·묵시]  알고리즘  |  프레임당 추론 시간</a:t>
            </a:r>
          </a:p>
          <a:p>
            <a:r>
              <a:rPr sz="1100"/>
              <a:t>p3  [B·묵시]  범위한정  |  38 ms   →   11 ms</a:t>
            </a:r>
          </a:p>
          <a:p>
            <a:r>
              <a:rPr sz="1100"/>
              <a:t>p3  [B·묵시]  범위한정  |  1개   →   4개</a:t>
            </a:r>
          </a:p>
          <a:p>
            <a:r>
              <a:rPr sz="1100"/>
              <a:t>p3  [B·묵시·⚠공개]  독자성주장  |  캐스케이드 구조와 적응형 임계 방식은 사내 독자 설계이며 현재 논문·특허 등 공개 실적 없음.</a:t>
            </a:r>
          </a:p>
          <a:p>
            <a:r>
              <a:rPr sz="1100"/>
              <a:t>p4  [B·묵시]  방법  |  광학 검사 모듈 및 공정 제어 개선</a:t>
            </a:r>
          </a:p>
          <a:p>
            <a:r>
              <a:rPr sz="1100"/>
              <a:t>p4  [A]  구조  |  450nm 청색광과 660nm 적색광을 200Hz로 교번 점등하고, 파장별 영상을 합성해 표면 결…</a:t>
            </a:r>
          </a:p>
          <a:p>
            <a:r>
              <a:rPr sz="1100"/>
              <a:t>p4  [B·묵시]  범위한정  |  조명 입사각을 22~28° 구간에서 가변한 결과 미세 크랙 대비비가 최대. 24°를 표준 사양으로…</a:t>
            </a:r>
          </a:p>
          <a:p>
            <a:r>
              <a:rPr sz="1100"/>
              <a:t>p4  [B·묵시]  알고리즘  |  코팅 두께 실시간 피드백</a:t>
            </a:r>
          </a:p>
          <a:p>
            <a:r>
              <a:rPr sz="1100"/>
              <a:t>p4  [B·묵시]  범위한정  |  검사 결과를 코터 슬롯다이 제어기에 200ms 주기로 반영하는 폐루프 구성. 두께 편차 ±0.8㎛…</a:t>
            </a:r>
          </a:p>
          <a:p>
            <a:r>
              <a:rPr sz="1100"/>
              <a:t>p4  [B·묵시]  방법  |  모듈 원가 구조 개선</a:t>
            </a:r>
          </a:p>
          <a:p>
            <a:r>
              <a:rPr sz="1100"/>
              <a:t>p4  [A]  구조  |  라인스캔 카메라 4대 구성을 카메라 2대 + 분광 프리즘 구성으로 대체. 광학 모듈 원가 40% …</a:t>
            </a:r>
          </a:p>
          <a:p>
            <a:r>
              <a:rPr sz="1100"/>
              <a:t>p4  [B·묵시]  구조  |  광학 모듈 기준</a:t>
            </a:r>
          </a:p>
          <a:p>
            <a:r>
              <a:rPr sz="1100"/>
              <a:t>p4  [B·묵시]  범위한정  |  기존 ±0.8㎛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출원 검토 마킹 요약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p4  [B·묵시]  범위한정  |  △320mm</a:t>
            </a:r>
          </a:p>
          <a:p>
            <a:r>
              <a:rPr sz="1100"/>
              <a:t>p4  [B·묵시]  효과만기재  |  라인 점유 면적 축소</a:t>
            </a:r>
          </a:p>
          <a:p>
            <a:r>
              <a:rPr sz="1100"/>
              <a:t>p4  [B·묵시]  독자성주장  |  분광 프리즘 배치 구조는 협력사 도면이 아닌 자사 설계이며, 도면 일체를 사내에서 관리 중.</a:t>
            </a:r>
          </a:p>
          <a:p>
            <a:r>
              <a:rPr sz="1100"/>
              <a:t>p5  [B·⚠공개]  공개이력  |  검사 모듈 12조 설치 및 SOP 승인</a:t>
            </a:r>
          </a:p>
          <a:p>
            <a:r>
              <a:rPr sz="1100"/>
              <a:t>p5  [B]  블랙박스용어  |  원통형 46파이 라인 대응</a:t>
            </a:r>
          </a:p>
          <a:p>
            <a:r>
              <a:rPr sz="1100"/>
              <a:t>p5  [B]  블랙박스용어  |  곡면 전극용 광학계 파생 모델 개발</a:t>
            </a:r>
          </a:p>
          <a:p>
            <a:r>
              <a:rPr sz="1100"/>
              <a:t>p5  [B·⚠공개]  공개이력  |  수율 예측 서비스 상용화</a:t>
            </a:r>
          </a:p>
          <a:p>
            <a:r>
              <a:rPr sz="1100"/>
              <a:t>p5  [B]  블랙박스용어  |  누적 검사 데이터 기반 불량 사전 예측</a:t>
            </a:r>
          </a:p>
          <a:p>
            <a:r>
              <a:rPr sz="1100"/>
              <a:t>p5  [B·⚠공개]  공개이력  |  2단계 캐스케이드 검사 공정을 실물 시연, 동작 화면 및 판정 로직 개요가 참관객에게 노출됨</a:t>
            </a:r>
          </a:p>
          <a:p>
            <a:r>
              <a:rPr sz="1100"/>
              <a:t>p5  [B·⚠공개]  블랙박스용어  |  동작 화면 및 판정 로직 개요가 참관객에게 노출됨</a:t>
            </a:r>
          </a:p>
          <a:p>
            <a:r>
              <a:rPr sz="1100"/>
              <a:t>p5  [B·⚠공개]  블랙박스용어  |  다중 파장 교번 조명 방식의 실험 데이터 포함</a:t>
            </a:r>
          </a:p>
          <a:p>
            <a:r>
              <a:rPr sz="1100"/>
              <a:t>p5  [B·⚠공개]  블랙박스용어  |  유사한 다중 파장 조명 검사 방식을 2025. 11 공개특허로 등록 공개한 것으로 확인됨</a:t>
            </a:r>
          </a:p>
          <a:p>
            <a:r>
              <a:rPr sz="1100"/>
              <a:t>p5  [B]  독자성주장  |  자사 명의의 출원 실적이 없으며, 지식재산 담당 부서의 검토가 진행된 바 없음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출원 검토 마킹 요약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p5  [B·⚠공개]  공개이력  |  학회 발표는 초록 제출 시점부터 공개로 간주될 수 있으므로, 출원 시점을 8월 중으로 앞당길 필요…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상반기 R&amp;D 성과 및 사업 현황 보고</dc:title>
  <dc:subject>PptxGenJS Presentation</dc:subject>
  <dc:creator>한빛테크놀로지 기술연구소</dc:creator>
  <cp:lastModifiedBy>한빛테크놀로지 기술연구소</cp:lastModifiedBy>
  <cp:revision>1</cp:revision>
  <dcterms:created xsi:type="dcterms:W3CDTF">2026-08-15T15:48:47Z</dcterms:created>
  <dcterms:modified xsi:type="dcterms:W3CDTF">2026-08-15T15:48:47Z</dcterms:modified>
</cp:coreProperties>
</file>