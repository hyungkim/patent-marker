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0" i="0" u="none" strike="noStrike">
                <a:solidFill>
                  <a:srgbClr val="1A2233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A2233"/>
                </a:solidFill>
                <a:latin typeface="Malgun Gothic"/>
              </a:rPr>
              <a:t>매출액 · 영업이익 추이 (단위: 억원)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</c:v>
                </c:pt>
              </c:strCache>
            </c:strRef>
          </c:tx>
          <c:spPr>
            <a:solidFill>
              <a:srgbClr val="1220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891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 상반기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612</c:v>
                </c:pt>
                <c:pt idx="1">
                  <c:v>741</c:v>
                </c:pt>
                <c:pt idx="2">
                  <c:v>482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00C2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891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 상반기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</c:v>
                </c:pt>
                <c:pt idx="1">
                  <c:v>55</c:v>
                </c:pt>
                <c:pt idx="2">
                  <c:v>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B7891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23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"/>
        </c:scaling>
        <c:delete val="0"/>
        <c:axPos val="l"/>
        <c:majorGridlines>
          <c:spPr>
            <a:ln w="12700" cap="flat">
              <a:solidFill>
                <a:srgbClr val="D5D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891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233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본 보고서는 2026년 상반기 기술연구소 개발 성과를 정리한 내부 문서임.
슬라이드 3~4의 기술 내용은 현재까지 특허 출원이 이루어지지 않은 상태이며, </a:t>
            </a:r>
            <a:r>
              <a:rPr lang="en-US" dirty="0" u="sng">
                <a:solidFill>
                  <a:srgbClr val="141A22"/>
                </a:solidFill>
                <a:highlight>
                  <a:srgbClr val="FF9E80"/>
                </a:highlight>
                <a:uFill>
                  <a:solidFill>
                    <a:srgbClr val="FF9E80"/>
                  </a:solidFill>
                </a:uFill>
              </a:rPr>
              <a:t xml:space="preserve">일부 내용은 이미 외부에 공개된 이력이 있음</a:t>
            </a:r>
            <a:r>
              <a:rPr lang="en-US" dirty="0"/>
              <a:t xml:space="preserve">(슬라이드 5 참조).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2026년 상반기 영업이익률 12.7%로 개선. 개선분의 상당 부분은 슬라이드 4의 </a:t>
            </a:r>
            <a:r>
              <a:rPr lang="en-US" dirty="0" u="sng">
                <a:highlight>
                  <a:srgbClr val="9FD8F5"/>
                </a:highlight>
                <a:uFill>
                  <a:solidFill>
                    <a:srgbClr val="9FD8F5"/>
                  </a:solidFill>
                </a:uFill>
              </a:rPr>
              <a:t xml:space="preserve">광학 모듈 원가 절감 효과</a:t>
            </a:r>
            <a:r>
              <a:rPr lang="en-US" dirty="0"/>
              <a:t xml:space="preserve">에서 기인함.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u="sng">
                <a:highlight>
                  <a:srgbClr val="FF9E80"/>
                </a:highlight>
                <a:uFill>
                  <a:solidFill>
                    <a:srgbClr val="FF9E80"/>
                  </a:solidFill>
                </a:uFill>
              </a:rPr>
              <a:t xml:space="preserve">캐스케이드 구조와 적응형 임계 방식은 사내 독자 설계이며 현재 논문·특허 등 공개 실적 없음.</a:t>
            </a:r>
            <a:r>
              <a:rPr lang="en-US" dirty="0"/>
              <a:t xml:space="preserve">
합성 결함 증강 비율(1:200)은 3개월간 실험으로 도출한 값으로, 1:50 이하에서는 재현율이 급격히 저하됨.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교번 조명 주파수 200Hz는 라인 속도 120m/min 기준으로 결정. 파장 조합과 교번 주기, 입사각 범위가 성능의 핵심 변수임.
</a:t>
            </a:r>
            <a:r>
              <a:rPr lang="en-US" dirty="0" u="sng">
                <a:highlight>
                  <a:srgbClr val="9FD8F5"/>
                </a:highlight>
                <a:uFill>
                  <a:solidFill>
                    <a:srgbClr val="9FD8F5"/>
                  </a:solidFill>
                </a:uFill>
              </a:rPr>
              <a:t xml:space="preserve">분광 프리즘 배치 구조는 협력사 도면이 아닌 자사 설계이며, 도면 일체를 사내에서 관리 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u="sng">
                <a:solidFill>
                  <a:srgbClr val="141A22"/>
                </a:solidFill>
                <a:highlight>
                  <a:srgbClr val="FF9E80"/>
                </a:highlight>
                <a:uFill>
                  <a:solidFill>
                    <a:srgbClr val="FF9E80"/>
                  </a:solidFill>
                </a:uFill>
              </a:rPr>
              <a:t xml:space="preserve">학회 발표는 초록 제출 시점부터 공개로 간주될 수 있으므로, 출원 시점을 8월 중으로 앞당길 필요가 있는지 검토 요청.</a:t>
            </a:r>
            <a:r>
              <a:rPr lang="en-US" dirty="0"/>
              <a:t xml:space="preserve">
InterBattery 시연은 이미 공개에 해당하므로 공지예외주장(신규성 의제) 적용 가능 기간을 확인해야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HANBIT 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9095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80" kern="0" dirty="0">
                <a:solidFill>
                  <a:srgbClr val="8CA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대외비 · CONFIDENTIAL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상반기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22402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R&amp;D 성과 및 사업 현황 보고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94360" y="309067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2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이차전지 전극 공정 검사 시스템 개발 부문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3657600"/>
            <a:ext cx="2011680" cy="18288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3794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기술연구소 · 제품개발본부   |   보고일 2026. 08. 14   |   작성 정민서 수석연구원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4617720"/>
            <a:ext cx="3413760" cy="1371600"/>
          </a:xfrm>
          <a:prstGeom prst="roundRect">
            <a:avLst>
              <a:gd name="adj" fmla="val 5333"/>
            </a:avLst>
          </a:prstGeom>
          <a:solidFill>
            <a:srgbClr val="1E335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4754880"/>
            <a:ext cx="277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482억원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5285232"/>
            <a:ext cx="277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상반기 매출액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5541264"/>
            <a:ext cx="277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 동기 대비 +18.4%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73880" y="4617720"/>
            <a:ext cx="3413760" cy="1371600"/>
          </a:xfrm>
          <a:prstGeom prst="roundRect">
            <a:avLst>
              <a:gd name="adj" fmla="val 5333"/>
            </a:avLst>
          </a:prstGeom>
          <a:solidFill>
            <a:srgbClr val="1E335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693920" y="4754880"/>
            <a:ext cx="277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21건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93920" y="5285232"/>
            <a:ext cx="277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양산 라인 수주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93920" y="5541264"/>
            <a:ext cx="277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3사 · 해외 1사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53400" y="4617720"/>
            <a:ext cx="3413760" cy="1371600"/>
          </a:xfrm>
          <a:prstGeom prst="roundRect">
            <a:avLst>
              <a:gd name="adj" fmla="val 5333"/>
            </a:avLst>
          </a:prstGeom>
          <a:solidFill>
            <a:srgbClr val="2A467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73440" y="4754880"/>
            <a:ext cx="277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473440" y="5285232"/>
            <a:ext cx="277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 u="sng">
                <a:solidFill>
                  <a:srgbClr val="141A22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기술 특허 출원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73440" y="5541264"/>
            <a:ext cx="277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 검토 미착수</a:t>
            </a:r>
            <a:endParaRPr lang="en-US" sz="1050" dirty="0"/>
          </a:p>
        </p:txBody>
      </p:sp>
      <p:sp>
        <p:nvSpPr>
          <p:cNvPr id="21" name="출원검토필요 범례"/>
          <p:cNvSpPr/>
          <p:nvPr/>
        </p:nvSpPr>
        <p:spPr>
          <a:xfrm>
            <a:off x="5943600" y="228600"/>
            <a:ext cx="37947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000" b="1">
                <a:solidFill>
                  <a:srgbClr val="C62828"/>
                </a:solidFill>
              </a:rPr>
              <a:t>출원검토필요 표시 안내</a:t>
            </a:r>
          </a:p>
          <a:p>
            <a:pPr algn="l"/>
            <a:r>
              <a:rPr sz="900" b="1" u="sng">
                <a:solidFill>
                  <a:srgbClr val="141A22"/>
                </a:solidFill>
                <a:highlight>
                  <a:srgbClr val="FFFF00"/>
                </a:highlight>
                <a:uFill>
                  <a:solidFill>
                    <a:srgbClr val="FFFF00"/>
                  </a:solidFill>
                </a:uFill>
              </a:rPr>
              <a:t> A </a:t>
            </a:r>
            <a:r>
              <a:rPr sz="900">
                <a:solidFill>
                  <a:srgbClr val="141A22"/>
                </a:solidFill>
              </a:rPr>
              <a:t>  즉시 출원 검토 — 구체적 기술 수단이 드러남</a:t>
            </a:r>
          </a:p>
          <a:p>
            <a:pPr algn="l"/>
            <a:r>
              <a:rPr sz="900" b="1" u="sng">
                <a:solidFill>
                  <a:srgbClr val="141A22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</a:rPr>
              <a:t> B </a:t>
            </a:r>
            <a:r>
              <a:rPr sz="900">
                <a:solidFill>
                  <a:srgbClr val="141A22"/>
                </a:solidFill>
              </a:rPr>
              <a:t>  발명 발굴 필요 — 수단은 없으나 존재가 시사됨</a:t>
            </a:r>
          </a:p>
          <a:p>
            <a:pPr algn="l"/>
            <a:r>
              <a:rPr sz="900" b="1" u="sng">
                <a:solidFill>
                  <a:srgbClr val="141A22"/>
                </a:solidFill>
                <a:highlight>
                  <a:srgbClr val="FF5050"/>
                </a:highlight>
                <a:uFill>
                  <a:solidFill>
                    <a:srgbClr val="FF5050"/>
                  </a:solidFill>
                </a:uFill>
              </a:rPr>
              <a:t> C </a:t>
            </a:r>
            <a:r>
              <a:rPr sz="900">
                <a:solidFill>
                  <a:srgbClr val="141A22"/>
                </a:solidFill>
              </a:rPr>
              <a:t>  공개전 출원완료 필요</a:t>
            </a:r>
          </a:p>
          <a:p>
            <a:pPr algn="l"/>
            <a:r>
              <a:rPr sz="800">
                <a:solidFill>
                  <a:srgbClr val="5F6B7A"/>
                </a:solidFill>
              </a:rPr>
              <a:t>형광펜(밑줄) 구간 = 출원 검토 필요</a:t>
            </a:r>
          </a:p>
          <a:p>
            <a:pPr algn="l"/>
            <a:r>
              <a:rPr sz="800">
                <a:solidFill>
                  <a:srgbClr val="5F6B7A"/>
                </a:solidFill>
              </a:rPr>
              <a:t>변리사 검토 전 1차 스크리닝 결과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현황 요약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508760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95160" y="16184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99516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543800" y="16002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믹스 전환 가속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43800" y="1929384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전극 검사장비 매출 비중이 34% → 51%로 상승. </a:t>
            </a:r>
            <a:r>
              <a:rPr lang="en-US" sz="1150" dirty="0" u="sng">
                <a:solidFill>
                  <a:srgbClr val="1A2233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조립·물류 장비 중심 구조에서 검사 솔루션 중심으로 이동 중</a:t>
            </a: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995160" y="30358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99516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43800" y="30175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양산 라인 첫 진입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543800" y="3346704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헝가리 고객사 2호기 라인에 </a:t>
            </a:r>
            <a:r>
              <a:rPr lang="en-US" sz="1150" dirty="0" u="sng">
                <a:solidFill>
                  <a:srgbClr val="1A2233"/>
                </a:solidFill>
                <a:highlight>
                  <a:srgbClr val="FF5050"/>
                </a:highlight>
                <a:uFill>
                  <a:solidFill>
                    <a:srgbClr val="FF5050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검사 모듈 12조 공급 확정</a:t>
            </a: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. </a:t>
            </a:r>
            <a:r>
              <a:rPr lang="en-US" sz="1150" dirty="0" u="sng">
                <a:solidFill>
                  <a:srgbClr val="1A2233"/>
                </a:solidFill>
                <a:highlight>
                  <a:srgbClr val="FF5050"/>
                </a:highlight>
                <a:uFill>
                  <a:solidFill>
                    <a:srgbClr val="FF5050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2026년 3분기 현장 검증(SOP) 예정</a:t>
            </a: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95160" y="44531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99516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543800" y="4434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단가 하락 압력 지속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543800" y="4764024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평균 판매단가 연 7~9% 하락. 하드웨어 원가 절감과 소프트웨어 차별화가 수익성의 관건.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94360" y="6217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한빛테크놀로지 기술연구소  |  대외비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18520" y="62179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457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SOFTWARE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 u="sng">
                <a:solidFill>
                  <a:srgbClr val="12203F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전극 결함 검출 알고리즘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라인 정지 없이 전 수량을 검사하기 위해, </a:t>
            </a:r>
            <a:r>
              <a:rPr lang="en-US" sz="1250" dirty="0" u="sng">
                <a:solidFill>
                  <a:srgbClr val="6B7891"/>
                </a:solidFill>
                <a:highlight>
                  <a:srgbClr val="FFFF00"/>
                </a:highlight>
                <a:uFill>
                  <a:solidFill>
                    <a:srgbClr val="FFFF00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추론 부하를 2단계로 분리한 캐스케이드 구조를 신규 설계함</a:t>
            </a:r>
            <a:r>
              <a:rPr lang="en-US" sz="1250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2455164" cy="1298448"/>
          </a:xfrm>
          <a:prstGeom prst="roundRect">
            <a:avLst>
              <a:gd name="adj" fmla="val 5634"/>
            </a:avLst>
          </a:prstGeom>
          <a:solidFill>
            <a:srgbClr val="F4F7FB"/>
          </a:solidFill>
          <a:ln w="12700">
            <a:solidFill>
              <a:srgbClr val="D5DD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95528" y="201168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 영상 취득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2331720"/>
            <a:ext cx="20528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라인스캔 카메라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 m/min 연속 촬상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49524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33572" y="1828800"/>
            <a:ext cx="2455164" cy="1298448"/>
          </a:xfrm>
          <a:prstGeom prst="roundRect">
            <a:avLst>
              <a:gd name="adj" fmla="val 5634"/>
            </a:avLst>
          </a:prstGeom>
          <a:solidFill>
            <a:srgbClr val="12203F"/>
          </a:solidFill>
          <a:ln/>
          <a:effectLst>
            <a:outerShdw sx="100000" sy="100000" kx="0" ky="0" algn="bl" rotWithShape="0" blurRad="127000" dist="25400" dir="5400000">
              <a:srgbClr val="8FA3BF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34740" y="201168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경량 CNN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4740" y="2331720"/>
            <a:ext cx="20528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프레임의 97%를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정상으로 조기 배제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88736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72784" y="1828800"/>
            <a:ext cx="2455164" cy="1298448"/>
          </a:xfrm>
          <a:prstGeom prst="roundRect">
            <a:avLst>
              <a:gd name="adj" fmla="val 5634"/>
            </a:avLst>
          </a:prstGeom>
          <a:solidFill>
            <a:srgbClr val="12203F"/>
          </a:solidFill>
          <a:ln/>
          <a:effectLst>
            <a:outerShdw sx="100000" sy="100000" kx="0" ky="0" algn="bl" rotWithShape="0" blurRad="127000" dist="25400" dir="5400000">
              <a:srgbClr val="8FA3BF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73952" y="201168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정밀 분류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73952" y="2331720"/>
            <a:ext cx="20528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 3%만 트랜스포머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모델로 결함 유형 판정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27948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11996" y="1828800"/>
            <a:ext cx="2455164" cy="1298448"/>
          </a:xfrm>
          <a:prstGeom prst="roundRect">
            <a:avLst>
              <a:gd name="adj" fmla="val 5634"/>
            </a:avLst>
          </a:prstGeom>
          <a:solidFill>
            <a:srgbClr val="F4F7FB"/>
          </a:solidFill>
          <a:ln w="12700">
            <a:solidFill>
              <a:srgbClr val="D5DDE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313164" y="201168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· 피드백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13164" y="2331720"/>
            <a:ext cx="20528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등급 산출 후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코터 제어기로 전송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40156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구성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3712464"/>
            <a:ext cx="5257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 u="sng">
                <a:solidFill>
                  <a:srgbClr val="1A2233"/>
                </a:solidFill>
                <a:highlight>
                  <a:srgbClr val="FFFF00"/>
                </a:highlight>
                <a:uFill>
                  <a:solidFill>
                    <a:srgbClr val="FFFF00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모델은 정상 판정에만 특화된 경량 CNN으로, 정상 프레임을 즉시 배제해 2차 모델의 입력량을 1/33로 축소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 u="sng">
                <a:solidFill>
                  <a:srgbClr val="1A2233"/>
                </a:solidFill>
                <a:highlight>
                  <a:srgbClr val="FFFF00"/>
                </a:highlight>
                <a:uFill>
                  <a:solidFill>
                    <a:srgbClr val="FFFF00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샘플 희소성 문제는 실 결함 1장당 합성 결함 200장을 생성하는 증강 파이프라인으로 보완 (결함 형태·위치·조도 랜덤화)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 u="sng">
                <a:solidFill>
                  <a:srgbClr val="1A2233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 속도 120 m/min 조건에서 20㎛급 미세 결함까지 검출 가능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 u="sng">
                <a:solidFill>
                  <a:srgbClr val="1A2233"/>
                </a:solidFill>
                <a:highlight>
                  <a:srgbClr val="FFFF00"/>
                </a:highlight>
                <a:uFill>
                  <a:solidFill>
                    <a:srgbClr val="FFFF00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임계값을 직전 500프레임의 결함 밀도에 따라 자동 조정하는 적응형 임계 방식 적용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9360" y="340156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성과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3730752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28816" y="3730752"/>
            <a:ext cx="241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오검출률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727948" y="3730752"/>
            <a:ext cx="2619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trike="sngStrike" dirty="0" u="sng">
                <a:solidFill>
                  <a:srgbClr val="6B7891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4.2%</a:t>
            </a:r>
            <a:pPr algn="r" indent="0" marL="0">
              <a:buNone/>
            </a:pPr>
            <a:r>
              <a:rPr lang="en-US" sz="1200" dirty="0" u="sng">
                <a:solidFill>
                  <a:srgbClr val="6B7891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  </a:t>
            </a:r>
            <a:pPr algn="r" indent="0" marL="0">
              <a:buNone/>
            </a:pPr>
            <a:r>
              <a:rPr lang="en-US" sz="1500" b="1" dirty="0" u="sng">
                <a:solidFill>
                  <a:srgbClr val="12203F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438912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528816" y="4389120"/>
            <a:ext cx="241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 u="sng">
                <a:solidFill>
                  <a:srgbClr val="1A2233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프레임당 추론 시간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727948" y="4389120"/>
            <a:ext cx="2619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trike="sngStrike" dirty="0" u="sng">
                <a:solidFill>
                  <a:srgbClr val="6B7891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ms</a:t>
            </a:r>
            <a:pPr algn="r" indent="0" marL="0">
              <a:buNone/>
            </a:pPr>
            <a:r>
              <a:rPr lang="en-US" sz="1200" dirty="0" u="sng">
                <a:solidFill>
                  <a:srgbClr val="6B7891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  </a:t>
            </a:r>
            <a:pPr algn="r" indent="0" marL="0">
              <a:buNone/>
            </a:pPr>
            <a:r>
              <a:rPr lang="en-US" sz="1500" b="1" dirty="0" u="sng">
                <a:solidFill>
                  <a:srgbClr val="12203F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ms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5047488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528816" y="5047488"/>
            <a:ext cx="241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1장당 처리 라인 수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727948" y="5047488"/>
            <a:ext cx="2619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trike="sngStrike" dirty="0" u="sng">
                <a:solidFill>
                  <a:srgbClr val="6B7891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</a:t>
            </a:r>
            <a:pPr algn="r" indent="0" marL="0">
              <a:buNone/>
            </a:pPr>
            <a:r>
              <a:rPr lang="en-US" sz="1200" dirty="0" u="sng">
                <a:solidFill>
                  <a:srgbClr val="6B7891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  </a:t>
            </a:r>
            <a:pPr algn="r" indent="0" marL="0">
              <a:buNone/>
            </a:pPr>
            <a:r>
              <a:rPr lang="en-US" sz="1500" b="1" dirty="0" u="sng">
                <a:solidFill>
                  <a:srgbClr val="12203F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6217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한빛테크놀로지 기술연구소  |  대외비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18520" y="62179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457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HARDWARE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 u="sng">
                <a:solidFill>
                  <a:srgbClr val="12203F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광학 검사 모듈 및 공정 제어 개선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572768"/>
            <a:ext cx="5280660" cy="1481328"/>
          </a:xfrm>
          <a:prstGeom prst="roundRect">
            <a:avLst>
              <a:gd name="adj" fmla="val 4938"/>
            </a:avLst>
          </a:prstGeom>
          <a:solidFill>
            <a:srgbClr val="F4F7FB"/>
          </a:solidFill>
          <a:ln w="12700">
            <a:solidFill>
              <a:srgbClr val="D5DDE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18288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2203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07592" y="1828800"/>
            <a:ext cx="4293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파장 교번 조명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231136"/>
            <a:ext cx="4732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 u="sng">
                <a:solidFill>
                  <a:srgbClr val="1A2233"/>
                </a:solidFill>
                <a:highlight>
                  <a:srgbClr val="FFFF00"/>
                </a:highlight>
                <a:uFill>
                  <a:solidFill>
                    <a:srgbClr val="FFFF00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450nm 청색광과 660nm 적색광을 200Hz로 교번 점등하고, 파장별 영상을 합성해 표면 결함과 내부 기공을 한 번의 스캔으로 동시 검출.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86500" y="1572768"/>
            <a:ext cx="5280660" cy="1481328"/>
          </a:xfrm>
          <a:prstGeom prst="roundRect">
            <a:avLst>
              <a:gd name="adj" fmla="val 4938"/>
            </a:avLst>
          </a:prstGeom>
          <a:solidFill>
            <a:srgbClr val="F4F7FB"/>
          </a:solidFill>
          <a:ln w="12700">
            <a:solidFill>
              <a:srgbClr val="D5DDE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60820" y="18288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2203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6082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99732" y="1828800"/>
            <a:ext cx="4293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경사 입사 광학계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60820" y="2231136"/>
            <a:ext cx="4732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 u="sng">
                <a:solidFill>
                  <a:srgbClr val="1A2233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 입사각을 22~28° 구간에서 가변한 결과 미세 크랙 대비비가 최대. 24°를 표준 사양으로 확정하고 각도 가변 마운트를 자체 제작.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3374136"/>
            <a:ext cx="5280660" cy="1481328"/>
          </a:xfrm>
          <a:prstGeom prst="roundRect">
            <a:avLst>
              <a:gd name="adj" fmla="val 4938"/>
            </a:avLst>
          </a:prstGeom>
          <a:solidFill>
            <a:srgbClr val="F4F7FB"/>
          </a:solidFill>
          <a:ln w="12700">
            <a:solidFill>
              <a:srgbClr val="D5DDE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68680" y="363016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2203F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07592" y="3630168"/>
            <a:ext cx="4293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 u="sng">
                <a:solidFill>
                  <a:srgbClr val="12203F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코팅 두께 실시간 피드백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032504"/>
            <a:ext cx="4732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 u="sng">
                <a:solidFill>
                  <a:srgbClr val="1A2233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결과를 코터 슬롯다이 제어기에 200ms 주기로 반영하는 폐루프 구성. 두께 편차 ±0.8㎛ → ±0.3㎛로 축소.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86500" y="3374136"/>
            <a:ext cx="5280660" cy="1481328"/>
          </a:xfrm>
          <a:prstGeom prst="roundRect">
            <a:avLst>
              <a:gd name="adj" fmla="val 4938"/>
            </a:avLst>
          </a:prstGeom>
          <a:solidFill>
            <a:srgbClr val="F4F7FB"/>
          </a:solidFill>
          <a:ln w="12700">
            <a:solidFill>
              <a:srgbClr val="D5DDE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60820" y="363016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2203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6082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9732" y="3630168"/>
            <a:ext cx="4293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 u="sng">
                <a:solidFill>
                  <a:srgbClr val="12203F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원가 구조 개선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60820" y="4032504"/>
            <a:ext cx="4732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 u="sng">
                <a:solidFill>
                  <a:srgbClr val="1A2233"/>
                </a:solidFill>
                <a:highlight>
                  <a:srgbClr val="FFFF00"/>
                </a:highlight>
                <a:uFill>
                  <a:solidFill>
                    <a:srgbClr val="FFFF00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라인스캔 카메라 4대 구성을 카메라 2대 + 분광 프리즘 구성으로 대체. 광학 모듈 원가 40% 절감, 설치 폭 320mm 축소.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4937760"/>
            <a:ext cx="10972800" cy="969264"/>
          </a:xfrm>
          <a:prstGeom prst="roundRect">
            <a:avLst>
              <a:gd name="adj" fmla="val 7547"/>
            </a:avLst>
          </a:prstGeom>
          <a:solidFill>
            <a:srgbClr val="12203F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68680" y="50657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원가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" y="52669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△40%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68680" y="55961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 u="sng">
                <a:solidFill>
                  <a:srgbClr val="141A22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광학 모듈 기준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11880" y="50657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편차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11880" y="52669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±0.3㎛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611880" y="55961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 u="sng">
                <a:solidFill>
                  <a:srgbClr val="141A22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±0.8㎛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50657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폭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55080" y="52669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 u="sng">
                <a:solidFill>
                  <a:srgbClr val="00C2A8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△320mm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355080" y="55961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 u="sng">
                <a:solidFill>
                  <a:srgbClr val="141A22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 점유 면적 축소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098280" y="50657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항목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98280" y="52669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2종 동시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098280" y="55961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 + 내부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" y="6217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한빛테크놀로지 기술연구소  |  대외비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18520" y="62179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 및 확인 필요 사항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1E335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37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3Q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헝가리 2호기 현장 검증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3591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 u="sng">
                <a:solidFill>
                  <a:srgbClr val="141A22"/>
                </a:solidFill>
                <a:highlight>
                  <a:srgbClr val="FF5050"/>
                </a:highlight>
                <a:uFill>
                  <a:solidFill>
                    <a:srgbClr val="FF5050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모듈 12조 설치 및 SOP 승인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1E335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1737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4Q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2011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 u="sng">
                <a:solidFill>
                  <a:srgbClr val="141A22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원통형 46파이 라인 대응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3591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 u="sng">
                <a:solidFill>
                  <a:srgbClr val="141A22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곡면 전극용 광학계 파생 모델 개발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83880" y="155448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1E335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58200" y="1737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1H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58200" y="2011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 u="sng">
                <a:solidFill>
                  <a:srgbClr val="141A22"/>
                </a:solidFill>
                <a:highlight>
                  <a:srgbClr val="FF5050"/>
                </a:highlight>
                <a:uFill>
                  <a:solidFill>
                    <a:srgbClr val="FF5050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수율 예측 서비스 상용화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58200" y="23591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 u="sng">
                <a:solidFill>
                  <a:srgbClr val="141A22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검사 데이터 기반 불량 사전 예측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291840"/>
            <a:ext cx="10972800" cy="2560320"/>
          </a:xfrm>
          <a:prstGeom prst="roundRect">
            <a:avLst>
              <a:gd name="adj" fmla="val 3571"/>
            </a:avLst>
          </a:prstGeom>
          <a:solidFill>
            <a:srgbClr val="1E3358"/>
          </a:solidFill>
          <a:ln w="19050">
            <a:solidFill>
              <a:srgbClr val="00C2A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3529584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 확인 요청 사항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3895344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2026. 05  InterBattery 2026 자사 부스에서 </a:t>
            </a:r>
            <a:r>
              <a:rPr lang="en-US" sz="1250" dirty="0" u="sng">
                <a:solidFill>
                  <a:srgbClr val="141A22"/>
                </a:solidFill>
                <a:highlight>
                  <a:srgbClr val="FF5050"/>
                </a:highlight>
                <a:uFill>
                  <a:solidFill>
                    <a:srgbClr val="FF5050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2단계 캐스케이드 검사 공정을 실물 시연, 동작 화면 및 판정 로직 개요가 참관객에게 노출됨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2026. 09  한국전지학회 추계학술대회 논문 발표 예정 (초록 제출 마감 8/31) — </a:t>
            </a:r>
            <a:r>
              <a:rPr lang="en-US" sz="1250" dirty="0" u="sng">
                <a:solidFill>
                  <a:srgbClr val="141A22"/>
                </a:solidFill>
                <a:highlight>
                  <a:srgbClr val="FF5050"/>
                </a:highlight>
                <a:uFill>
                  <a:solidFill>
                    <a:srgbClr val="FF5050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다중 파장 교번 조명 방식의 실험 데이터 포함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경쟁사 T사가 </a:t>
            </a:r>
            <a:r>
              <a:rPr lang="en-US" sz="1250" dirty="0" u="sng">
                <a:solidFill>
                  <a:srgbClr val="141A22"/>
                </a:solidFill>
                <a:highlight>
                  <a:srgbClr val="FF5050"/>
                </a:highlight>
                <a:uFill>
                  <a:solidFill>
                    <a:srgbClr val="FF5050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유사한 다중 파장 조명 검사 방식을 2025. 11 공개특허로 등록 공개한 것으로 확인됨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슬라이드 3~4에 기재된 기술 전반에 대해 </a:t>
            </a:r>
            <a:r>
              <a:rPr lang="en-US" sz="1250" dirty="0" u="sng">
                <a:solidFill>
                  <a:srgbClr val="141A22"/>
                </a:solidFill>
                <a:highlight>
                  <a:srgbClr val="00FFFF"/>
                </a:highlight>
                <a:uFill>
                  <a:solidFill>
                    <a:srgbClr val="00FFFF"/>
                  </a:solidFill>
                </a:u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자사 명의의 출원 실적이 없으며, 지식재산 담당 부서의 검토가 진행된 바 없음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6217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9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한빛테크놀로지 기술연구소  |  대외비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18520" y="62179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9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상반기 R&amp;D 성과 및 사업 현황 보고</dc:title>
  <dc:subject>PptxGenJS Presentation</dc:subject>
  <dc:creator>한빛테크놀로지 기술연구소</dc:creator>
  <cp:lastModifiedBy>한빛테크놀로지 기술연구소</cp:lastModifiedBy>
  <cp:revision>1</cp:revision>
  <dcterms:created xsi:type="dcterms:W3CDTF">2026-08-15T15:48:47Z</dcterms:created>
  <dcterms:modified xsi:type="dcterms:W3CDTF">2026-08-15T15:48:47Z</dcterms:modified>
</cp:coreProperties>
</file>